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13ceaa4e254e9c" /><Relationship Type="http://schemas.openxmlformats.org/officeDocument/2006/relationships/extended-properties" Target="/docProps/app.xml" Id="Rba774700c431423a" /><Relationship Type="http://schemas.openxmlformats.org/officeDocument/2006/relationships/officeDocument" Target="/ppt/presentation.xml" Id="Rbcfc682a986145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3cdd1e80444e27"/>
  </p:sldMasterIdLst>
  <p:notesMasterIdLst>
    <p:notesMasterId xmlns:r="http://schemas.openxmlformats.org/officeDocument/2006/relationships" r:id="R5519af530b484ec4"/>
  </p:notesMasterIdLst>
  <p:sldIdLst>
    <p:sldId xmlns:r="http://schemas.openxmlformats.org/officeDocument/2006/relationships" id="256" r:id="R4f48d663842b46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6e943c2acd4f85" /><Relationship Type="http://schemas.openxmlformats.org/officeDocument/2006/relationships/slideMaster" Target="/ppt/slideMasters/slideMaster1.xml" Id="R0c3cdd1e80444e27" /><Relationship Type="http://schemas.openxmlformats.org/officeDocument/2006/relationships/notesMaster" Target="/ppt/notesMasters/notesMaster1.xml" Id="R5519af530b484ec4" /><Relationship Type="http://schemas.openxmlformats.org/officeDocument/2006/relationships/presProps" Target="/ppt/presProps.xml" Id="Rd326d4fff0464310" /><Relationship Type="http://schemas.openxmlformats.org/officeDocument/2006/relationships/tableStyles" Target="/ppt/tableStyles.xml" Id="R2365353d110f4e96" /><Relationship Type="http://schemas.openxmlformats.org/officeDocument/2006/relationships/slide" Target="/ppt/slides/slide1.xml" Id="R4f48d663842b46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3aff569fb94a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3bbfb7d6804cef" /><Relationship Type="http://schemas.openxmlformats.org/officeDocument/2006/relationships/notesMaster" Target="/ppt/notesMasters/notesMaster1.xml" Id="R9451ddce7dd34e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docs/experimental_setup.md; configs/experiment.json; configs/eval_manifest.json. Counts describe the locked experiment design, not model performance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aeae650c14f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1df7ffa39b4fc9" /><Relationship Type="http://schemas.openxmlformats.org/officeDocument/2006/relationships/slideLayout" Target="/ppt/slideLayouts/slideLayout1.xml" Id="R8280bf38e89b4c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80bf38e89b4c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c75c85179473d" /><Relationship Type="http://schemas.openxmlformats.org/officeDocument/2006/relationships/notesSlide" Target="/ppt/notesSlides/notesSlide1.xml" Id="R3f068f8475c444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208CC6E0-69F9-4BC9-85A8-63F7CAED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86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6CF8F2-C7D1-4A62-8DAD-97E22A97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Method and experiments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91E7130-DA69-4AB6-9B72-33B87335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B617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B6175"/>
                </a:solidFill>
                <a:latin typeface="Arial"/>
                <a:ea typeface="Arial"/>
                <a:cs typeface="Arial"/>
              </a:rPr>
              <a:t>Paired prompt comparisons on a fixed COCO 2017 validation subset</a:t>
            </a:r>
          </a:p>
        </p:txBody>
      </p:sp>
      <p:sp>
        <p:nvSpPr>
          <p:cNvPr id="4" name="run-count">
            <a:extLst xmlns:a="http://schemas.openxmlformats.org/drawingml/2006/main">
              <a:ext uri="{FF2B5EF4-FFF2-40B4-BE49-F238E27FC236}">
                <a16:creationId xmlns:a16="http://schemas.microsoft.com/office/drawing/2014/main" id="{C5744731-9A86-4F32-B4E2-3258AE1A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F7C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86"/>
                </a:solidFill>
                <a:latin typeface="Arial"/>
                <a:ea typeface="Arial"/>
                <a:cs typeface="Arial"/>
              </a:rPr>
              <a:t>800 unique runs</a:t>
            </a:r>
          </a:p>
        </p:txBody>
      </p:sp>
      <p:sp>
        <p:nvSpPr>
          <p:cNvPr id="5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93037990-B4DE-42E2-9C55-4827ED30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24025"/>
            <a:ext cx="885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9D1"/>
          </a:solidFill>
          <a:ln xmlns:a="http://schemas.openxmlformats.org/drawingml/2006/main" w="0">
            <a:noFill/>
          </a:ln>
        </p:spPr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E01B0EBE-886B-4DD5-B508-993FAA7A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573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1B3A6EA9-55B2-4582-97BA-73EE9C5F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50 COCO instances</a:t>
            </a:r>
          </a:p>
        </p:txBody>
      </p:sp>
      <p:sp>
        <p:nvSpPr>
          <p:cNvPr id="8" name="step-1-detail">
            <a:extLst xmlns:a="http://schemas.openxmlformats.org/drawingml/2006/main">
              <a:ext uri="{FF2B5EF4-FFF2-40B4-BE49-F238E27FC236}">
                <a16:creationId xmlns:a16="http://schemas.microsoft.com/office/drawing/2014/main" id="{6EF528D2-0E82-4DA1-83DB-261E7104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B7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B7C"/>
                </a:solidFill>
                <a:latin typeface="Arial"/>
                <a:ea typeface="Arial"/>
                <a:cs typeface="Arial"/>
              </a:rPr>
              <a:t>One instance per image</a:t>
            </a:r>
          </a:p>
          <a:p xmlns:a="http://schemas.openxmlformats.org/drawingml/2006/main">
            <a:pPr algn="ctr">
              <a:defRPr sz="1125">
                <a:solidFill>
                  <a:srgbClr val="536B7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B7C"/>
                </a:solidFill>
                <a:latin typeface="Arial"/>
                <a:ea typeface="Arial"/>
                <a:cs typeface="Arial"/>
              </a:rPr>
              <a:t>seed = 2026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B2230019-CC80-407D-9BF5-847C7543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573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FEC1D8DE-AC43-43E0-8B23-AD555E88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526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700 stored prompts</a:t>
            </a:r>
          </a:p>
        </p:txBody>
      </p:sp>
      <p:sp>
        <p:nvSpPr>
          <p:cNvPr id="11" name="step-2-detail">
            <a:extLst xmlns:a="http://schemas.openxmlformats.org/drawingml/2006/main">
              <a:ext uri="{FF2B5EF4-FFF2-40B4-BE49-F238E27FC236}">
                <a16:creationId xmlns:a16="http://schemas.microsoft.com/office/drawing/2014/main" id="{D28F9214-2A79-4F12-A662-86868DA1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765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B7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B7C"/>
                </a:solidFill>
                <a:latin typeface="Arial"/>
                <a:ea typeface="Arial"/>
                <a:cs typeface="Arial"/>
              </a:rPr>
              <a:t>Clean point and box</a:t>
            </a:r>
          </a:p>
          <a:p xmlns:a="http://schemas.openxmlformats.org/drawingml/2006/main">
            <a:pPr algn="ctr">
              <a:defRPr sz="1125">
                <a:solidFill>
                  <a:srgbClr val="536B7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B7C"/>
                </a:solidFill>
                <a:latin typeface="Arial"/>
                <a:ea typeface="Arial"/>
                <a:cs typeface="Arial"/>
              </a:rPr>
              <a:t>10% and 20% shifts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4366D92A-512E-445A-917B-6D0B98FF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573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C8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DBB0CCB1-78D3-494A-933B-79EFDD15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526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Two pretrained models</a:t>
            </a:r>
          </a:p>
        </p:txBody>
      </p:sp>
      <p:sp>
        <p:nvSpPr>
          <p:cNvPr id="14" name="step-3-detail">
            <a:extLst xmlns:a="http://schemas.openxmlformats.org/drawingml/2006/main">
              <a:ext uri="{FF2B5EF4-FFF2-40B4-BE49-F238E27FC236}">
                <a16:creationId xmlns:a16="http://schemas.microsoft.com/office/drawing/2014/main" id="{1F711794-98D8-4007-B9C9-EE2425F4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B7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B7C"/>
                </a:solidFill>
                <a:latin typeface="Arial"/>
                <a:ea typeface="Arial"/>
                <a:cs typeface="Arial"/>
              </a:rPr>
              <a:t>SAM ViT-B main model</a:t>
            </a:r>
          </a:p>
          <a:p xmlns:a="http://schemas.openxmlformats.org/drawingml/2006/main">
            <a:pPr algn="ctr">
              <a:defRPr sz="1125">
                <a:solidFill>
                  <a:srgbClr val="536B7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B7C"/>
                </a:solidFill>
                <a:latin typeface="Arial"/>
                <a:ea typeface="Arial"/>
                <a:cs typeface="Arial"/>
              </a:rPr>
              <a:t>MobileSAM baseline</a:t>
            </a:r>
          </a:p>
        </p:txBody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37F4BCCD-6777-46AC-BCCB-8713054B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573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step-4-label">
            <a:extLst xmlns:a="http://schemas.openxmlformats.org/drawingml/2006/main">
              <a:ext uri="{FF2B5EF4-FFF2-40B4-BE49-F238E27FC236}">
                <a16:creationId xmlns:a16="http://schemas.microsoft.com/office/drawing/2014/main" id="{CF8DCF9E-73DC-46E2-9F5E-FF3EAD53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One mask per prompt</a:t>
            </a:r>
          </a:p>
        </p:txBody>
      </p:sp>
      <p:sp>
        <p:nvSpPr>
          <p:cNvPr id="17" name="step-4-detail">
            <a:extLst xmlns:a="http://schemas.openxmlformats.org/drawingml/2006/main">
              <a:ext uri="{FF2B5EF4-FFF2-40B4-BE49-F238E27FC236}">
                <a16:creationId xmlns:a16="http://schemas.microsoft.com/office/drawing/2014/main" id="{28324A61-4175-477F-8460-3249C4F5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B7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B7C"/>
                </a:solidFill>
                <a:latin typeface="Arial"/>
                <a:ea typeface="Arial"/>
                <a:cs typeface="Arial"/>
              </a:rPr>
              <a:t>IoU, timing and failures</a:t>
            </a:r>
          </a:p>
          <a:p xmlns:a="http://schemas.openxmlformats.org/drawingml/2006/main">
            <a:pPr algn="ctr">
              <a:defRPr sz="1125">
                <a:solidFill>
                  <a:srgbClr val="536B7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B7C"/>
                </a:solidFill>
                <a:latin typeface="Arial"/>
                <a:ea typeface="Arial"/>
                <a:cs typeface="Arial"/>
              </a:rPr>
              <a:t>kept by run ID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723900" y="3295650"/>
          <a:ext xmlns:a="http://schemas.openxmlformats.org/drawingml/2006/main" cx="107442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7239000"/>
                <a:gridCol w="1695450"/>
              </a:tblGrid>
              <a:tr h="4381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Setup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jobs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1  Baseline vs 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MobileSAM vs SAM ViT-B on clean point and box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2  Point vs box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Clean SAM ViT-B rows reused from Setup 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0 additional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3  Robustness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SAM ViT-B at 10% and 20%, three trials per level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961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961"/>
                          </a:solidFill>
                          <a:latin typeface="Arial"/>
                          <a:ea typeface="Arial"/>
                          <a:cs typeface="Arial"/>
                        </a:rPr>
                        <a:t>Same IDs and stored coordinates across every comparison</a:t>
                      </a:r>
                    </a:p>
                  </a:txBody>
                  <a:tcPr marL="91440" marR="91440" marT="45720" marB="45720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961"/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E2F1F3"/>
                    </a:solidFill>
                  </a:tcPr>
                </a:tc>
              </a:tr>
            </a:tbl>
          </a:graphicData>
        </a:graphic>
      </p:graphicFrame>
      <p:sp>
        <p:nvSpPr>
          <p:cNvPr id="19" name="protocol-footer">
            <a:extLst xmlns:a="http://schemas.openxmlformats.org/drawingml/2006/main">
              <a:ext uri="{FF2B5EF4-FFF2-40B4-BE49-F238E27FC236}">
                <a16:creationId xmlns:a16="http://schemas.microsoft.com/office/drawing/2014/main" id="{985F1905-9058-4365-B0A3-18DD5F8E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C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86"/>
                </a:solidFill>
                <a:latin typeface="Arial"/>
                <a:ea typeface="Arial"/>
                <a:cs typeface="Arial"/>
              </a:rPr>
              <a:t>Same IDs and coordinates across models. One mask per prompt. Predict time excludes image encoding.</a:t>
            </a:r>
          </a:p>
        </p:txBody>
      </p:sp>
      <p:sp>
        <p:nvSpPr>
          <p:cNvPr id="2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1D20323-8FE7-482B-B12B-5657D8EF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B7F8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F8F"/>
                </a:solidFill>
                <a:latin typeface="Arial"/>
                <a:ea typeface="Arial"/>
                <a:cs typeface="Arial"/>
              </a:rPr>
              <a:t>Protocol: configs/experiment.json   Prompt file: results/prompts.json</a:t>
            </a:r>
          </a:p>
        </p:txBody>
      </p:sp>
    </p:spTree>
    <p:extLst>
      <p:ext uri="{BB962C8B-B14F-4D97-AF65-F5344CB8AC3E}">
        <p14:creationId xmlns:p14="http://schemas.microsoft.com/office/powerpoint/2010/main" val="1208525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2026-10-05T06:52:33.2700000Z</dcterms:created>
  <dcterms:modified xsi:type="dcterms:W3CDTF">2026-10-05T06:52:33.2700000Z</dcterms:modified>
</coreProperties>
</file>